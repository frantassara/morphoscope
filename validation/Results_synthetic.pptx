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8" r:id="rId7"/>
    <p:sldId id="264" r:id="rId8"/>
    <p:sldId id="259" r:id="rId9"/>
    <p:sldId id="265" r:id="rId10"/>
    <p:sldId id="266" r:id="rId11"/>
    <p:sldId id="267" r:id="rId12"/>
    <p:sldId id="260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510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82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56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42407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488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542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1639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6762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996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873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448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9483F-0047-4891-B835-AF8736EB61C1}" type="datetimeFigureOut">
              <a:rPr lang="es-AR" smtClean="0"/>
              <a:t>30/12/2025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CA83-87E1-484F-92CB-3AE13D051F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061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S" dirty="0" err="1" smtClean="0"/>
              <a:t>MorphoScope</a:t>
            </a:r>
            <a:r>
              <a:rPr lang="es-US" dirty="0" smtClean="0"/>
              <a:t> Test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US" dirty="0" err="1" smtClean="0"/>
              <a:t>Synthetic</a:t>
            </a:r>
            <a:r>
              <a:rPr lang="es-US" dirty="0" smtClean="0"/>
              <a:t> Data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9872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Synthetic</a:t>
            </a:r>
            <a:r>
              <a:rPr lang="es-US" dirty="0" smtClean="0"/>
              <a:t> </a:t>
            </a:r>
            <a:r>
              <a:rPr lang="es-US" dirty="0" err="1" smtClean="0"/>
              <a:t>volumes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72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Generated volumes to demonstrate and validate the spread quantification algorithm:</a:t>
            </a:r>
          </a:p>
          <a:p>
            <a:pPr marL="0" indent="0">
              <a:buNone/>
            </a:pPr>
            <a:r>
              <a:rPr lang="es-AR" dirty="0" smtClean="0"/>
              <a:t>1. </a:t>
            </a:r>
            <a:r>
              <a:rPr lang="es-AR" dirty="0" err="1" smtClean="0"/>
              <a:t>spread_concept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  </a:t>
            </a:r>
            <a:r>
              <a:rPr lang="es-AR" dirty="0" err="1" smtClean="0"/>
              <a:t>Demonstrates</a:t>
            </a:r>
            <a:r>
              <a:rPr lang="es-AR" dirty="0" smtClean="0"/>
              <a:t> </a:t>
            </a:r>
            <a:r>
              <a:rPr lang="es-AR" dirty="0" err="1" smtClean="0"/>
              <a:t>what</a:t>
            </a:r>
            <a:r>
              <a:rPr lang="es-AR" dirty="0" smtClean="0"/>
              <a:t> spread </a:t>
            </a:r>
            <a:r>
              <a:rPr lang="es-AR" dirty="0" err="1" smtClean="0"/>
              <a:t>measures</a:t>
            </a:r>
            <a:r>
              <a:rPr lang="es-AR" dirty="0" smtClean="0"/>
              <a:t>:</a:t>
            </a:r>
          </a:p>
          <a:p>
            <a:pPr marL="0" indent="0">
              <a:buNone/>
            </a:pPr>
            <a:r>
              <a:rPr lang="es-AR" dirty="0" smtClean="0"/>
              <a:t>   - </a:t>
            </a:r>
            <a:r>
              <a:rPr lang="es-AR" dirty="0" err="1" smtClean="0"/>
              <a:t>Spheres</a:t>
            </a:r>
            <a:r>
              <a:rPr lang="es-AR" dirty="0" smtClean="0"/>
              <a:t> of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sizes</a:t>
            </a:r>
            <a:r>
              <a:rPr lang="es-AR" dirty="0" smtClean="0"/>
              <a:t>: spread </a:t>
            </a:r>
            <a:r>
              <a:rPr lang="es-AR" dirty="0" err="1" smtClean="0"/>
              <a:t>scales</a:t>
            </a:r>
            <a:r>
              <a:rPr lang="es-AR" dirty="0" smtClean="0"/>
              <a:t> </a:t>
            </a:r>
            <a:r>
              <a:rPr lang="es-AR" dirty="0" err="1" smtClean="0"/>
              <a:t>with</a:t>
            </a:r>
            <a:r>
              <a:rPr lang="es-AR" dirty="0" smtClean="0"/>
              <a:t> </a:t>
            </a:r>
            <a:r>
              <a:rPr lang="es-AR" dirty="0" err="1" smtClean="0"/>
              <a:t>size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  - </a:t>
            </a:r>
            <a:r>
              <a:rPr lang="es-AR" dirty="0" err="1" smtClean="0"/>
              <a:t>Ellipsoids</a:t>
            </a:r>
            <a:r>
              <a:rPr lang="es-AR" dirty="0" smtClean="0"/>
              <a:t> </a:t>
            </a:r>
            <a:r>
              <a:rPr lang="es-AR" dirty="0" err="1" smtClean="0"/>
              <a:t>elongated</a:t>
            </a:r>
            <a:r>
              <a:rPr lang="es-AR" dirty="0" smtClean="0"/>
              <a:t> in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axes</a:t>
            </a:r>
            <a:r>
              <a:rPr lang="es-AR" dirty="0" smtClean="0"/>
              <a:t>: </a:t>
            </a:r>
            <a:r>
              <a:rPr lang="es-AR" dirty="0" err="1" smtClean="0"/>
              <a:t>anisotropic</a:t>
            </a:r>
            <a:r>
              <a:rPr lang="es-AR" dirty="0" smtClean="0"/>
              <a:t> spread</a:t>
            </a:r>
          </a:p>
          <a:p>
            <a:pPr marL="0" indent="0">
              <a:buNone/>
            </a:pPr>
            <a:r>
              <a:rPr lang="es-AR" dirty="0" smtClean="0"/>
              <a:t>   - </a:t>
            </a:r>
            <a:r>
              <a:rPr lang="es-AR" dirty="0" err="1" smtClean="0"/>
              <a:t>Same</a:t>
            </a:r>
            <a:r>
              <a:rPr lang="es-AR" dirty="0" smtClean="0"/>
              <a:t> </a:t>
            </a:r>
            <a:r>
              <a:rPr lang="es-AR" dirty="0" err="1" smtClean="0"/>
              <a:t>geometry</a:t>
            </a:r>
            <a:r>
              <a:rPr lang="es-AR" dirty="0" smtClean="0"/>
              <a:t> at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intensities</a:t>
            </a:r>
            <a:r>
              <a:rPr lang="es-AR" dirty="0" smtClean="0"/>
              <a:t>: spread </a:t>
            </a:r>
            <a:r>
              <a:rPr lang="es-AR" dirty="0" err="1" smtClean="0"/>
              <a:t>unchanged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778272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Different</a:t>
            </a:r>
            <a:r>
              <a:rPr lang="es-US" dirty="0" smtClean="0"/>
              <a:t> </a:t>
            </a:r>
            <a:r>
              <a:rPr lang="es-US" dirty="0" err="1" smtClean="0"/>
              <a:t>Size</a:t>
            </a:r>
            <a:endParaRPr lang="es-AR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1764810"/>
              </p:ext>
            </p:extLst>
          </p:nvPr>
        </p:nvGraphicFramePr>
        <p:xfrm>
          <a:off x="838200" y="3592547"/>
          <a:ext cx="10515600" cy="3199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1939456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1544995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0467094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728196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2384964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223328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3644427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12681379"/>
                    </a:ext>
                  </a:extLst>
                </a:gridCol>
              </a:tblGrid>
              <a:tr h="1079422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Image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filename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y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z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 [um2]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x*y*z [um3]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Axonal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(</a:t>
                      </a:r>
                      <a:r>
                        <a:rPr lang="es-AR" dirty="0" err="1" smtClean="0"/>
                        <a:t>integrated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intensity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Geometric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[um3]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7502"/>
                  </a:ext>
                </a:extLst>
              </a:tr>
              <a:tr h="670238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01_sphere_r10um.tif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24.25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115.73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136351944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7483.12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01084"/>
                  </a:ext>
                </a:extLst>
              </a:tr>
              <a:tr h="6702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02_sphere_r5um.tif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19.42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22129333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1668.67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152591"/>
                  </a:ext>
                </a:extLst>
              </a:tr>
              <a:tr h="6702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03_sphere_r15um.tif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56.01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302.7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350742052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16815.4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4020539"/>
                  </a:ext>
                </a:extLst>
              </a:tr>
            </a:tbl>
          </a:graphicData>
        </a:graphic>
      </p:graphicFrame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284" y="1449136"/>
            <a:ext cx="6979432" cy="214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39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Ellipsoids</a:t>
            </a:r>
            <a:r>
              <a:rPr lang="es-AR" dirty="0" smtClean="0"/>
              <a:t> </a:t>
            </a:r>
            <a:r>
              <a:rPr lang="es-AR" dirty="0" err="1" smtClean="0"/>
              <a:t>elongated</a:t>
            </a:r>
            <a:r>
              <a:rPr lang="es-AR" dirty="0" smtClean="0"/>
              <a:t> in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axes</a:t>
            </a:r>
            <a:endParaRPr lang="es-AR" dirty="0"/>
          </a:p>
        </p:txBody>
      </p:sp>
      <p:graphicFrame>
        <p:nvGraphicFramePr>
          <p:cNvPr id="4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158185"/>
              </p:ext>
            </p:extLst>
          </p:nvPr>
        </p:nvGraphicFramePr>
        <p:xfrm>
          <a:off x="655072" y="3505147"/>
          <a:ext cx="10881856" cy="3191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232">
                  <a:extLst>
                    <a:ext uri="{9D8B030D-6E8A-4147-A177-3AD203B41FA5}">
                      <a16:colId xmlns:a16="http://schemas.microsoft.com/office/drawing/2014/main" val="3193945636"/>
                    </a:ext>
                  </a:extLst>
                </a:gridCol>
                <a:gridCol w="1360232">
                  <a:extLst>
                    <a:ext uri="{9D8B030D-6E8A-4147-A177-3AD203B41FA5}">
                      <a16:colId xmlns:a16="http://schemas.microsoft.com/office/drawing/2014/main" val="3315449955"/>
                    </a:ext>
                  </a:extLst>
                </a:gridCol>
                <a:gridCol w="1360232">
                  <a:extLst>
                    <a:ext uri="{9D8B030D-6E8A-4147-A177-3AD203B41FA5}">
                      <a16:colId xmlns:a16="http://schemas.microsoft.com/office/drawing/2014/main" val="2104670946"/>
                    </a:ext>
                  </a:extLst>
                </a:gridCol>
                <a:gridCol w="1360232">
                  <a:extLst>
                    <a:ext uri="{9D8B030D-6E8A-4147-A177-3AD203B41FA5}">
                      <a16:colId xmlns:a16="http://schemas.microsoft.com/office/drawing/2014/main" val="2007281965"/>
                    </a:ext>
                  </a:extLst>
                </a:gridCol>
                <a:gridCol w="1360232">
                  <a:extLst>
                    <a:ext uri="{9D8B030D-6E8A-4147-A177-3AD203B41FA5}">
                      <a16:colId xmlns:a16="http://schemas.microsoft.com/office/drawing/2014/main" val="3223849643"/>
                    </a:ext>
                  </a:extLst>
                </a:gridCol>
                <a:gridCol w="1360232">
                  <a:extLst>
                    <a:ext uri="{9D8B030D-6E8A-4147-A177-3AD203B41FA5}">
                      <a16:colId xmlns:a16="http://schemas.microsoft.com/office/drawing/2014/main" val="3622332858"/>
                    </a:ext>
                  </a:extLst>
                </a:gridCol>
                <a:gridCol w="1360232">
                  <a:extLst>
                    <a:ext uri="{9D8B030D-6E8A-4147-A177-3AD203B41FA5}">
                      <a16:colId xmlns:a16="http://schemas.microsoft.com/office/drawing/2014/main" val="1236444272"/>
                    </a:ext>
                  </a:extLst>
                </a:gridCol>
                <a:gridCol w="1360232">
                  <a:extLst>
                    <a:ext uri="{9D8B030D-6E8A-4147-A177-3AD203B41FA5}">
                      <a16:colId xmlns:a16="http://schemas.microsoft.com/office/drawing/2014/main" val="3512681379"/>
                    </a:ext>
                  </a:extLst>
                </a:gridCol>
              </a:tblGrid>
              <a:tr h="1080513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Image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filename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y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z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 [um2]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x*y*z [um3]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Axonal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(</a:t>
                      </a:r>
                      <a:r>
                        <a:rPr lang="es-AR" dirty="0" err="1" smtClean="0"/>
                        <a:t>integrated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intensity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Geometric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[um3]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7502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04_ellipsoid_x_elongated.tif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28.89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77.68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88519429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6674.97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01084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05_ellipsoid_y_elongated.tif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28.89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77.68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88519429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6674.97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152591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06_ellipsoid_z_elongated.tif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30.96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35320684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2576.04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4020539"/>
                  </a:ext>
                </a:extLst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896" y="1525003"/>
            <a:ext cx="1742949" cy="183265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837" y="1456229"/>
            <a:ext cx="4001971" cy="19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63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Same</a:t>
            </a:r>
            <a:r>
              <a:rPr lang="es-AR" dirty="0" smtClean="0"/>
              <a:t> </a:t>
            </a:r>
            <a:r>
              <a:rPr lang="es-AR" dirty="0" err="1" smtClean="0"/>
              <a:t>geometry</a:t>
            </a:r>
            <a:r>
              <a:rPr lang="es-AR" dirty="0" smtClean="0"/>
              <a:t> at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intensities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238" y="1690688"/>
            <a:ext cx="4688840" cy="2336419"/>
          </a:xfrm>
          <a:prstGeom prst="rect">
            <a:avLst/>
          </a:prstGeom>
        </p:spPr>
      </p:pic>
      <p:graphicFrame>
        <p:nvGraphicFramePr>
          <p:cNvPr id="5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9258582"/>
              </p:ext>
            </p:extLst>
          </p:nvPr>
        </p:nvGraphicFramePr>
        <p:xfrm>
          <a:off x="336752" y="4095083"/>
          <a:ext cx="11518496" cy="2524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582">
                  <a:extLst>
                    <a:ext uri="{9D8B030D-6E8A-4147-A177-3AD203B41FA5}">
                      <a16:colId xmlns:a16="http://schemas.microsoft.com/office/drawing/2014/main" val="3193945636"/>
                    </a:ext>
                  </a:extLst>
                </a:gridCol>
                <a:gridCol w="1331042">
                  <a:extLst>
                    <a:ext uri="{9D8B030D-6E8A-4147-A177-3AD203B41FA5}">
                      <a16:colId xmlns:a16="http://schemas.microsoft.com/office/drawing/2014/main" val="3315449955"/>
                    </a:ext>
                  </a:extLst>
                </a:gridCol>
                <a:gridCol w="1439812">
                  <a:extLst>
                    <a:ext uri="{9D8B030D-6E8A-4147-A177-3AD203B41FA5}">
                      <a16:colId xmlns:a16="http://schemas.microsoft.com/office/drawing/2014/main" val="2104670946"/>
                    </a:ext>
                  </a:extLst>
                </a:gridCol>
                <a:gridCol w="1439812">
                  <a:extLst>
                    <a:ext uri="{9D8B030D-6E8A-4147-A177-3AD203B41FA5}">
                      <a16:colId xmlns:a16="http://schemas.microsoft.com/office/drawing/2014/main" val="2007281965"/>
                    </a:ext>
                  </a:extLst>
                </a:gridCol>
                <a:gridCol w="1439812">
                  <a:extLst>
                    <a:ext uri="{9D8B030D-6E8A-4147-A177-3AD203B41FA5}">
                      <a16:colId xmlns:a16="http://schemas.microsoft.com/office/drawing/2014/main" val="3223849643"/>
                    </a:ext>
                  </a:extLst>
                </a:gridCol>
                <a:gridCol w="1439812">
                  <a:extLst>
                    <a:ext uri="{9D8B030D-6E8A-4147-A177-3AD203B41FA5}">
                      <a16:colId xmlns:a16="http://schemas.microsoft.com/office/drawing/2014/main" val="3622332858"/>
                    </a:ext>
                  </a:extLst>
                </a:gridCol>
                <a:gridCol w="1439812">
                  <a:extLst>
                    <a:ext uri="{9D8B030D-6E8A-4147-A177-3AD203B41FA5}">
                      <a16:colId xmlns:a16="http://schemas.microsoft.com/office/drawing/2014/main" val="1236444272"/>
                    </a:ext>
                  </a:extLst>
                </a:gridCol>
                <a:gridCol w="1439812">
                  <a:extLst>
                    <a:ext uri="{9D8B030D-6E8A-4147-A177-3AD203B41FA5}">
                      <a16:colId xmlns:a16="http://schemas.microsoft.com/office/drawing/2014/main" val="3512681379"/>
                    </a:ext>
                  </a:extLst>
                </a:gridCol>
              </a:tblGrid>
              <a:tr h="1080513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Image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filename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y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z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 [um2]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x*y*z [um3]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Axonal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(</a:t>
                      </a:r>
                      <a:r>
                        <a:rPr lang="es-AR" dirty="0" err="1" smtClean="0"/>
                        <a:t>integrated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intensity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Geometric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[um3]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7502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07_sphere_low_intensity.tif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115.81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68469140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7483.12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01084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08_sphere_high_intensity.tif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24.25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115.73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136351944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7483.12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152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48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Synthetic</a:t>
            </a:r>
            <a:r>
              <a:rPr lang="es-US" dirty="0" smtClean="0"/>
              <a:t> </a:t>
            </a:r>
            <a:r>
              <a:rPr lang="es-US" dirty="0" err="1" smtClean="0"/>
              <a:t>volumes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 smtClean="0"/>
              <a:t>2. </a:t>
            </a:r>
            <a:r>
              <a:rPr lang="es-AR" dirty="0" err="1" smtClean="0"/>
              <a:t>pca_rotation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  </a:t>
            </a:r>
            <a:r>
              <a:rPr lang="es-AR" dirty="0" err="1" smtClean="0"/>
              <a:t>Demonstrates</a:t>
            </a:r>
            <a:r>
              <a:rPr lang="es-AR" dirty="0" smtClean="0"/>
              <a:t> PCA axis </a:t>
            </a:r>
            <a:r>
              <a:rPr lang="es-AR" dirty="0" err="1" smtClean="0"/>
              <a:t>alignment</a:t>
            </a:r>
            <a:r>
              <a:rPr lang="es-AR" dirty="0" smtClean="0"/>
              <a:t>:</a:t>
            </a:r>
          </a:p>
          <a:p>
            <a:pPr marL="0" indent="0">
              <a:buNone/>
            </a:pPr>
            <a:r>
              <a:rPr lang="es-AR" dirty="0" smtClean="0"/>
              <a:t>   - </a:t>
            </a:r>
            <a:r>
              <a:rPr lang="es-AR" dirty="0" err="1" smtClean="0"/>
              <a:t>Same</a:t>
            </a:r>
            <a:r>
              <a:rPr lang="es-AR" dirty="0" smtClean="0"/>
              <a:t> </a:t>
            </a:r>
            <a:r>
              <a:rPr lang="es-AR" dirty="0" err="1" smtClean="0"/>
              <a:t>ellipsoid</a:t>
            </a:r>
            <a:r>
              <a:rPr lang="es-AR" dirty="0" smtClean="0"/>
              <a:t> at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rotations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  - </a:t>
            </a:r>
            <a:r>
              <a:rPr lang="es-AR" dirty="0" err="1" smtClean="0"/>
              <a:t>After</a:t>
            </a:r>
            <a:r>
              <a:rPr lang="es-AR" dirty="0" smtClean="0"/>
              <a:t> PCA </a:t>
            </a:r>
            <a:r>
              <a:rPr lang="es-AR" dirty="0" err="1" smtClean="0"/>
              <a:t>alignment</a:t>
            </a:r>
            <a:r>
              <a:rPr lang="es-AR" dirty="0" smtClean="0"/>
              <a:t>, </a:t>
            </a:r>
            <a:r>
              <a:rPr lang="es-AR" dirty="0" err="1" smtClean="0"/>
              <a:t>all</a:t>
            </a:r>
            <a:r>
              <a:rPr lang="es-AR" dirty="0" smtClean="0"/>
              <a:t> </a:t>
            </a:r>
            <a:r>
              <a:rPr lang="es-AR" dirty="0" err="1" smtClean="0"/>
              <a:t>should</a:t>
            </a:r>
            <a:r>
              <a:rPr lang="es-AR" dirty="0" smtClean="0"/>
              <a:t> </a:t>
            </a:r>
            <a:r>
              <a:rPr lang="es-AR" dirty="0" err="1" smtClean="0"/>
              <a:t>give</a:t>
            </a:r>
            <a:r>
              <a:rPr lang="es-AR" dirty="0" smtClean="0"/>
              <a:t> similar spread </a:t>
            </a:r>
            <a:r>
              <a:rPr lang="es-AR" dirty="0" err="1" smtClean="0"/>
              <a:t>values</a:t>
            </a:r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9918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pca_rotation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878" y="905509"/>
            <a:ext cx="8172368" cy="1970425"/>
          </a:xfrm>
          <a:prstGeom prst="rect">
            <a:avLst/>
          </a:prstGeom>
        </p:spPr>
      </p:pic>
      <p:graphicFrame>
        <p:nvGraphicFramePr>
          <p:cNvPr id="5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1426676"/>
              </p:ext>
            </p:extLst>
          </p:nvPr>
        </p:nvGraphicFramePr>
        <p:xfrm>
          <a:off x="430776" y="3052916"/>
          <a:ext cx="11330448" cy="3979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830">
                  <a:extLst>
                    <a:ext uri="{9D8B030D-6E8A-4147-A177-3AD203B41FA5}">
                      <a16:colId xmlns:a16="http://schemas.microsoft.com/office/drawing/2014/main" val="3193945636"/>
                    </a:ext>
                  </a:extLst>
                </a:gridCol>
                <a:gridCol w="1298782">
                  <a:extLst>
                    <a:ext uri="{9D8B030D-6E8A-4147-A177-3AD203B41FA5}">
                      <a16:colId xmlns:a16="http://schemas.microsoft.com/office/drawing/2014/main" val="3315449955"/>
                    </a:ext>
                  </a:extLst>
                </a:gridCol>
                <a:gridCol w="1416306">
                  <a:extLst>
                    <a:ext uri="{9D8B030D-6E8A-4147-A177-3AD203B41FA5}">
                      <a16:colId xmlns:a16="http://schemas.microsoft.com/office/drawing/2014/main" val="2104670946"/>
                    </a:ext>
                  </a:extLst>
                </a:gridCol>
                <a:gridCol w="1416306">
                  <a:extLst>
                    <a:ext uri="{9D8B030D-6E8A-4147-A177-3AD203B41FA5}">
                      <a16:colId xmlns:a16="http://schemas.microsoft.com/office/drawing/2014/main" val="2007281965"/>
                    </a:ext>
                  </a:extLst>
                </a:gridCol>
                <a:gridCol w="1416306">
                  <a:extLst>
                    <a:ext uri="{9D8B030D-6E8A-4147-A177-3AD203B41FA5}">
                      <a16:colId xmlns:a16="http://schemas.microsoft.com/office/drawing/2014/main" val="3223849643"/>
                    </a:ext>
                  </a:extLst>
                </a:gridCol>
                <a:gridCol w="1416306">
                  <a:extLst>
                    <a:ext uri="{9D8B030D-6E8A-4147-A177-3AD203B41FA5}">
                      <a16:colId xmlns:a16="http://schemas.microsoft.com/office/drawing/2014/main" val="3622332858"/>
                    </a:ext>
                  </a:extLst>
                </a:gridCol>
                <a:gridCol w="1416306">
                  <a:extLst>
                    <a:ext uri="{9D8B030D-6E8A-4147-A177-3AD203B41FA5}">
                      <a16:colId xmlns:a16="http://schemas.microsoft.com/office/drawing/2014/main" val="1236444272"/>
                    </a:ext>
                  </a:extLst>
                </a:gridCol>
                <a:gridCol w="1416306">
                  <a:extLst>
                    <a:ext uri="{9D8B030D-6E8A-4147-A177-3AD203B41FA5}">
                      <a16:colId xmlns:a16="http://schemas.microsoft.com/office/drawing/2014/main" val="3512681379"/>
                    </a:ext>
                  </a:extLst>
                </a:gridCol>
              </a:tblGrid>
              <a:tr h="1136607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Image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filename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y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z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 [um2]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x*y*z [um3]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Axonal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(</a:t>
                      </a:r>
                      <a:r>
                        <a:rPr lang="es-AR" dirty="0" err="1" smtClean="0"/>
                        <a:t>integrated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intensity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Geometric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[um3]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7502"/>
                  </a:ext>
                </a:extLst>
              </a:tr>
              <a:tr h="533695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ellipsoid_rot000deg.tif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46.23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124.28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141631563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10681.05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01084"/>
                  </a:ext>
                </a:extLst>
              </a:tr>
              <a:tr h="533695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ellipsoid_rot030deg.tif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46.23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124.29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141632397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10681.37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6098071"/>
                  </a:ext>
                </a:extLst>
              </a:tr>
              <a:tr h="533695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ellipsoid_rot045deg.tif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46.23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124.29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141633041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10679.69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0306052"/>
                  </a:ext>
                </a:extLst>
              </a:tr>
              <a:tr h="533695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ellipsoid_rot060deg.tif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46.23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124.29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141632094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10677.37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152591"/>
                  </a:ext>
                </a:extLst>
              </a:tr>
              <a:tr h="533695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ellipsoid_rot090deg.tif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46.23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124.28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141631563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10681.05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4020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39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Synthetic</a:t>
            </a:r>
            <a:r>
              <a:rPr lang="es-US" dirty="0" smtClean="0"/>
              <a:t> </a:t>
            </a:r>
            <a:r>
              <a:rPr lang="es-US" dirty="0" err="1" smtClean="0"/>
              <a:t>volumes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36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 smtClean="0"/>
              <a:t>3. </a:t>
            </a:r>
            <a:r>
              <a:rPr lang="es-AR" dirty="0" err="1" smtClean="0"/>
              <a:t>fasciculation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  </a:t>
            </a:r>
            <a:r>
              <a:rPr lang="es-AR" dirty="0" err="1" smtClean="0"/>
              <a:t>Demonstrates</a:t>
            </a:r>
            <a:r>
              <a:rPr lang="es-AR" dirty="0" smtClean="0"/>
              <a:t> </a:t>
            </a:r>
            <a:r>
              <a:rPr lang="es-AR" dirty="0" err="1" smtClean="0"/>
              <a:t>the</a:t>
            </a:r>
            <a:r>
              <a:rPr lang="es-AR" dirty="0" smtClean="0"/>
              <a:t> </a:t>
            </a:r>
            <a:r>
              <a:rPr lang="es-AR" dirty="0" err="1" smtClean="0"/>
              <a:t>biological</a:t>
            </a:r>
            <a:r>
              <a:rPr lang="es-AR" dirty="0" smtClean="0"/>
              <a:t> </a:t>
            </a:r>
            <a:r>
              <a:rPr lang="es-AR" dirty="0" err="1" smtClean="0"/>
              <a:t>phenomenon</a:t>
            </a:r>
            <a:r>
              <a:rPr lang="es-AR" dirty="0" smtClean="0"/>
              <a:t>:</a:t>
            </a:r>
          </a:p>
          <a:p>
            <a:pPr marL="0" indent="0">
              <a:buNone/>
            </a:pPr>
            <a:r>
              <a:rPr lang="es-AR" dirty="0" smtClean="0"/>
              <a:t>   - </a:t>
            </a:r>
            <a:r>
              <a:rPr lang="es-AR" dirty="0" err="1" smtClean="0"/>
              <a:t>fasciculated</a:t>
            </a:r>
            <a:r>
              <a:rPr lang="es-AR" dirty="0" smtClean="0"/>
              <a:t> (</a:t>
            </a:r>
            <a:r>
              <a:rPr lang="es-AR" dirty="0" err="1" smtClean="0"/>
              <a:t>dusk</a:t>
            </a:r>
            <a:r>
              <a:rPr lang="es-AR" dirty="0" smtClean="0"/>
              <a:t> </a:t>
            </a:r>
            <a:r>
              <a:rPr lang="es-AR" dirty="0" err="1" smtClean="0"/>
              <a:t>state</a:t>
            </a:r>
            <a:r>
              <a:rPr lang="es-AR" dirty="0" smtClean="0"/>
              <a:t>): </a:t>
            </a:r>
            <a:r>
              <a:rPr lang="es-AR" dirty="0" err="1" smtClean="0"/>
              <a:t>axons</a:t>
            </a:r>
            <a:r>
              <a:rPr lang="es-AR" dirty="0" smtClean="0"/>
              <a:t> </a:t>
            </a:r>
            <a:r>
              <a:rPr lang="es-AR" dirty="0" err="1" smtClean="0"/>
              <a:t>bundled</a:t>
            </a:r>
            <a:r>
              <a:rPr lang="es-AR" dirty="0" smtClean="0"/>
              <a:t> </a:t>
            </a:r>
            <a:r>
              <a:rPr lang="es-AR" dirty="0" err="1" smtClean="0"/>
              <a:t>tightly</a:t>
            </a:r>
            <a:r>
              <a:rPr lang="es-AR" dirty="0" smtClean="0"/>
              <a:t>, </a:t>
            </a:r>
            <a:r>
              <a:rPr lang="es-AR" dirty="0" err="1" smtClean="0"/>
              <a:t>low</a:t>
            </a:r>
            <a:r>
              <a:rPr lang="es-AR" dirty="0" smtClean="0"/>
              <a:t> X/Y/Z spread</a:t>
            </a:r>
          </a:p>
          <a:p>
            <a:pPr marL="0" indent="0">
              <a:buNone/>
            </a:pPr>
            <a:r>
              <a:rPr lang="es-AR" dirty="0" smtClean="0"/>
              <a:t>   - </a:t>
            </a:r>
            <a:r>
              <a:rPr lang="es-AR" dirty="0" err="1" smtClean="0"/>
              <a:t>defasciculated</a:t>
            </a:r>
            <a:r>
              <a:rPr lang="es-AR" dirty="0" smtClean="0"/>
              <a:t> (</a:t>
            </a:r>
            <a:r>
              <a:rPr lang="es-AR" dirty="0" err="1" smtClean="0"/>
              <a:t>dawn</a:t>
            </a:r>
            <a:r>
              <a:rPr lang="es-AR" dirty="0" smtClean="0"/>
              <a:t> </a:t>
            </a:r>
            <a:r>
              <a:rPr lang="es-AR" dirty="0" err="1" smtClean="0"/>
              <a:t>state</a:t>
            </a:r>
            <a:r>
              <a:rPr lang="es-AR" dirty="0" smtClean="0"/>
              <a:t>): </a:t>
            </a:r>
            <a:r>
              <a:rPr lang="es-AR" dirty="0" err="1" smtClean="0"/>
              <a:t>axons</a:t>
            </a:r>
            <a:r>
              <a:rPr lang="es-AR" dirty="0" smtClean="0"/>
              <a:t> spread </a:t>
            </a:r>
            <a:r>
              <a:rPr lang="es-AR" dirty="0" err="1" smtClean="0"/>
              <a:t>out</a:t>
            </a:r>
            <a:r>
              <a:rPr lang="es-AR" dirty="0" smtClean="0"/>
              <a:t>, </a:t>
            </a:r>
            <a:r>
              <a:rPr lang="es-AR" dirty="0" err="1" smtClean="0"/>
              <a:t>high</a:t>
            </a:r>
            <a:r>
              <a:rPr lang="es-AR" dirty="0" smtClean="0"/>
              <a:t> X/Y/Z spread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14385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F</a:t>
            </a:r>
            <a:r>
              <a:rPr lang="es-AR" dirty="0" err="1" smtClean="0"/>
              <a:t>asciculation</a:t>
            </a:r>
            <a:endParaRPr lang="es-AR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809" y="1324179"/>
            <a:ext cx="9854381" cy="5297723"/>
          </a:xfrm>
        </p:spPr>
      </p:pic>
    </p:spTree>
    <p:extLst>
      <p:ext uri="{BB962C8B-B14F-4D97-AF65-F5344CB8AC3E}">
        <p14:creationId xmlns:p14="http://schemas.microsoft.com/office/powerpoint/2010/main" val="988422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Fasciculation</a:t>
            </a:r>
            <a:endParaRPr lang="es-AR" dirty="0"/>
          </a:p>
        </p:txBody>
      </p:sp>
      <p:graphicFrame>
        <p:nvGraphicFramePr>
          <p:cNvPr id="4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495564"/>
              </p:ext>
            </p:extLst>
          </p:nvPr>
        </p:nvGraphicFramePr>
        <p:xfrm>
          <a:off x="412952" y="3490401"/>
          <a:ext cx="11123976" cy="3191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90">
                  <a:extLst>
                    <a:ext uri="{9D8B030D-6E8A-4147-A177-3AD203B41FA5}">
                      <a16:colId xmlns:a16="http://schemas.microsoft.com/office/drawing/2014/main" val="3193945636"/>
                    </a:ext>
                  </a:extLst>
                </a:gridCol>
                <a:gridCol w="1291404">
                  <a:extLst>
                    <a:ext uri="{9D8B030D-6E8A-4147-A177-3AD203B41FA5}">
                      <a16:colId xmlns:a16="http://schemas.microsoft.com/office/drawing/2014/main" val="331544995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104670946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00728196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223849643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622332858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1236444272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512681379"/>
                    </a:ext>
                  </a:extLst>
                </a:gridCol>
              </a:tblGrid>
              <a:tr h="1080513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Image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filename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y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z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 [um2]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x*y*z [um3]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Axonal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(</a:t>
                      </a:r>
                      <a:r>
                        <a:rPr lang="es-AR" dirty="0" err="1" smtClean="0"/>
                        <a:t>integrated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intensity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Geometric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[um3]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7502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01_fasciculated_tight.tif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14.46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22.64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32252376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2164.32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01084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02_partially_spread.tif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26.44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89.81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17342503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1510.53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152591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03_defasciculated_spread.tif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39.82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201.38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15146038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1348.25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4020539"/>
                  </a:ext>
                </a:extLst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008" y="831384"/>
            <a:ext cx="6813217" cy="242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3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Fasciculation</a:t>
            </a:r>
            <a:endParaRPr lang="es-AR" dirty="0"/>
          </a:p>
        </p:txBody>
      </p:sp>
      <p:graphicFrame>
        <p:nvGraphicFramePr>
          <p:cNvPr id="4" name="Marcador de contenid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234066"/>
              </p:ext>
            </p:extLst>
          </p:nvPr>
        </p:nvGraphicFramePr>
        <p:xfrm>
          <a:off x="412952" y="3637881"/>
          <a:ext cx="11123976" cy="2524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90">
                  <a:extLst>
                    <a:ext uri="{9D8B030D-6E8A-4147-A177-3AD203B41FA5}">
                      <a16:colId xmlns:a16="http://schemas.microsoft.com/office/drawing/2014/main" val="3193945636"/>
                    </a:ext>
                  </a:extLst>
                </a:gridCol>
                <a:gridCol w="1291404">
                  <a:extLst>
                    <a:ext uri="{9D8B030D-6E8A-4147-A177-3AD203B41FA5}">
                      <a16:colId xmlns:a16="http://schemas.microsoft.com/office/drawing/2014/main" val="331544995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104670946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00728196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223849643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622332858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1236444272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512681379"/>
                    </a:ext>
                  </a:extLst>
                </a:gridCol>
              </a:tblGrid>
              <a:tr h="1080513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Image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filename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y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z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 [um2]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x*y*z [um3]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Axonal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(</a:t>
                      </a:r>
                      <a:r>
                        <a:rPr lang="es-AR" dirty="0" err="1" smtClean="0"/>
                        <a:t>integrated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intensity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Geometric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[um3]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7502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04_branching_compact.tif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13.78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1.79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24.71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19.87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11582964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1042.2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01084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05_branching_spread.tif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13.48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53.16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17024859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1638.99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152591"/>
                  </a:ext>
                </a:extLst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819" y="616169"/>
            <a:ext cx="5296076" cy="285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65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Synthetic</a:t>
            </a:r>
            <a:r>
              <a:rPr lang="es-US" dirty="0" smtClean="0"/>
              <a:t> </a:t>
            </a:r>
            <a:r>
              <a:rPr lang="es-US" dirty="0" err="1" smtClean="0"/>
              <a:t>volumes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 smtClean="0"/>
              <a:t>4. </a:t>
            </a:r>
            <a:r>
              <a:rPr lang="es-AR" dirty="0" err="1" smtClean="0"/>
              <a:t>axonal_volume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  </a:t>
            </a:r>
            <a:r>
              <a:rPr lang="es-AR" dirty="0" err="1" smtClean="0"/>
              <a:t>Demonstrates</a:t>
            </a:r>
            <a:r>
              <a:rPr lang="es-AR" dirty="0" smtClean="0"/>
              <a:t> </a:t>
            </a:r>
            <a:r>
              <a:rPr lang="es-AR" dirty="0" err="1" smtClean="0"/>
              <a:t>axonal</a:t>
            </a:r>
            <a:r>
              <a:rPr lang="es-AR" dirty="0" smtClean="0"/>
              <a:t> </a:t>
            </a:r>
            <a:r>
              <a:rPr lang="es-AR" dirty="0" err="1" smtClean="0"/>
              <a:t>volume</a:t>
            </a:r>
            <a:r>
              <a:rPr lang="es-AR" dirty="0" smtClean="0"/>
              <a:t> </a:t>
            </a:r>
            <a:r>
              <a:rPr lang="es-AR" dirty="0" err="1" smtClean="0"/>
              <a:t>measurement</a:t>
            </a:r>
            <a:r>
              <a:rPr lang="es-AR" dirty="0" smtClean="0"/>
              <a:t>:</a:t>
            </a:r>
          </a:p>
          <a:p>
            <a:pPr marL="0" indent="0">
              <a:buNone/>
            </a:pPr>
            <a:r>
              <a:rPr lang="es-AR" dirty="0" smtClean="0"/>
              <a:t>   - </a:t>
            </a:r>
            <a:r>
              <a:rPr lang="es-AR" dirty="0" err="1" smtClean="0"/>
              <a:t>Same</a:t>
            </a:r>
            <a:r>
              <a:rPr lang="es-AR" dirty="0" smtClean="0"/>
              <a:t> </a:t>
            </a:r>
            <a:r>
              <a:rPr lang="es-AR" dirty="0" err="1" smtClean="0"/>
              <a:t>size</a:t>
            </a:r>
            <a:r>
              <a:rPr lang="es-AR" dirty="0" smtClean="0"/>
              <a:t>,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intensity</a:t>
            </a:r>
            <a:r>
              <a:rPr lang="es-AR" dirty="0" smtClean="0"/>
              <a:t>: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volume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  -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sizes</a:t>
            </a:r>
            <a:r>
              <a:rPr lang="es-AR" dirty="0" smtClean="0"/>
              <a:t>: </a:t>
            </a:r>
            <a:r>
              <a:rPr lang="es-AR" dirty="0" err="1" smtClean="0"/>
              <a:t>different</a:t>
            </a:r>
            <a:r>
              <a:rPr lang="es-AR" dirty="0" smtClean="0"/>
              <a:t> </a:t>
            </a:r>
            <a:r>
              <a:rPr lang="es-AR" dirty="0" err="1" smtClean="0"/>
              <a:t>volume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  - Shell vs </a:t>
            </a:r>
            <a:r>
              <a:rPr lang="es-AR" dirty="0" err="1" smtClean="0"/>
              <a:t>solid</a:t>
            </a:r>
            <a:r>
              <a:rPr lang="es-AR" dirty="0" smtClean="0"/>
              <a:t>: spread similar, </a:t>
            </a:r>
            <a:r>
              <a:rPr lang="es-AR" dirty="0" err="1" smtClean="0"/>
              <a:t>volume</a:t>
            </a:r>
            <a:r>
              <a:rPr lang="es-AR" dirty="0" smtClean="0"/>
              <a:t> </a:t>
            </a:r>
            <a:r>
              <a:rPr lang="es-AR" dirty="0" err="1" smtClean="0"/>
              <a:t>different</a:t>
            </a:r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71241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Axonal_volume</a:t>
            </a:r>
            <a:r>
              <a:rPr lang="es-AR" dirty="0" smtClean="0"/>
              <a:t>: </a:t>
            </a:r>
            <a:r>
              <a:rPr lang="en-US" sz="2400" dirty="0" smtClean="0"/>
              <a:t>Same size, different intensity: different volume</a:t>
            </a:r>
            <a:endParaRPr lang="es-AR" sz="2400" dirty="0"/>
          </a:p>
        </p:txBody>
      </p:sp>
      <p:graphicFrame>
        <p:nvGraphicFramePr>
          <p:cNvPr id="4" name="Marcador de contenid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3551057"/>
              </p:ext>
            </p:extLst>
          </p:nvPr>
        </p:nvGraphicFramePr>
        <p:xfrm>
          <a:off x="412952" y="3637881"/>
          <a:ext cx="11123976" cy="2524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90">
                  <a:extLst>
                    <a:ext uri="{9D8B030D-6E8A-4147-A177-3AD203B41FA5}">
                      <a16:colId xmlns:a16="http://schemas.microsoft.com/office/drawing/2014/main" val="3193945636"/>
                    </a:ext>
                  </a:extLst>
                </a:gridCol>
                <a:gridCol w="1291404">
                  <a:extLst>
                    <a:ext uri="{9D8B030D-6E8A-4147-A177-3AD203B41FA5}">
                      <a16:colId xmlns:a16="http://schemas.microsoft.com/office/drawing/2014/main" val="331544995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104670946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00728196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223849643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622332858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1236444272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512681379"/>
                    </a:ext>
                  </a:extLst>
                </a:gridCol>
              </a:tblGrid>
              <a:tr h="1080513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Image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filename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y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z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 [um2]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x*y*z [um3]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Axonal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(</a:t>
                      </a:r>
                      <a:r>
                        <a:rPr lang="es-AR" dirty="0" err="1" smtClean="0"/>
                        <a:t>integrated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intensity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Geometric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[um3]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7502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01_dense_structure.tif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24.25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115.73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136351944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7483.12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01084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02_sparse_structure.tif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115.81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68469140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7483.12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152591"/>
                  </a:ext>
                </a:extLst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296" y="1386348"/>
            <a:ext cx="4627287" cy="225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79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err="1" smtClean="0"/>
              <a:t>Axonal_volume</a:t>
            </a:r>
            <a:r>
              <a:rPr lang="es-AR" dirty="0" smtClean="0"/>
              <a:t>: </a:t>
            </a:r>
            <a:r>
              <a:rPr lang="es-AR" sz="3100" dirty="0" err="1" smtClean="0"/>
              <a:t>Different</a:t>
            </a:r>
            <a:r>
              <a:rPr lang="es-AR" sz="3100" dirty="0" smtClean="0"/>
              <a:t> </a:t>
            </a:r>
            <a:r>
              <a:rPr lang="es-AR" sz="3100" dirty="0" err="1" smtClean="0"/>
              <a:t>sizes</a:t>
            </a:r>
            <a:r>
              <a:rPr lang="es-AR" sz="3100" dirty="0" smtClean="0"/>
              <a:t>: </a:t>
            </a:r>
            <a:r>
              <a:rPr lang="es-AR" sz="3100" dirty="0" err="1" smtClean="0"/>
              <a:t>different</a:t>
            </a:r>
            <a:r>
              <a:rPr lang="es-AR" sz="3100" dirty="0" smtClean="0"/>
              <a:t> </a:t>
            </a:r>
            <a:r>
              <a:rPr lang="es-AR" sz="3100" dirty="0" err="1" smtClean="0"/>
              <a:t>volume</a:t>
            </a:r>
            <a:r>
              <a:rPr lang="es-AR" dirty="0" smtClean="0"/>
              <a:t/>
            </a:r>
            <a:br>
              <a:rPr lang="es-AR" dirty="0" smtClean="0"/>
            </a:br>
            <a:endParaRPr lang="es-AR" sz="2400" dirty="0"/>
          </a:p>
        </p:txBody>
      </p:sp>
      <p:graphicFrame>
        <p:nvGraphicFramePr>
          <p:cNvPr id="4" name="Marcador de contenid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966413"/>
              </p:ext>
            </p:extLst>
          </p:nvPr>
        </p:nvGraphicFramePr>
        <p:xfrm>
          <a:off x="412952" y="3637881"/>
          <a:ext cx="11123976" cy="2524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074">
                  <a:extLst>
                    <a:ext uri="{9D8B030D-6E8A-4147-A177-3AD203B41FA5}">
                      <a16:colId xmlns:a16="http://schemas.microsoft.com/office/drawing/2014/main" val="3193945636"/>
                    </a:ext>
                  </a:extLst>
                </a:gridCol>
                <a:gridCol w="1143920">
                  <a:extLst>
                    <a:ext uri="{9D8B030D-6E8A-4147-A177-3AD203B41FA5}">
                      <a16:colId xmlns:a16="http://schemas.microsoft.com/office/drawing/2014/main" val="331544995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104670946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00728196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223849643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622332858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1236444272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512681379"/>
                    </a:ext>
                  </a:extLst>
                </a:gridCol>
              </a:tblGrid>
              <a:tr h="1080513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Image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filename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y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z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 [um2]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x*y*z [um3]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Axonal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(</a:t>
                      </a:r>
                      <a:r>
                        <a:rPr lang="es-AR" dirty="0" err="1" smtClean="0"/>
                        <a:t>integrated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intensity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Geometric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[um3]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7502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03_small_full.tif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12.72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45.4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52822099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3431.19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01084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04_large_full.tif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181.09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212496592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10841.24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152591"/>
                  </a:ext>
                </a:extLst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128" y="1189930"/>
            <a:ext cx="2049278" cy="231521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612" y="1282967"/>
            <a:ext cx="2030611" cy="222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26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err="1" smtClean="0"/>
              <a:t>Axonal_volume</a:t>
            </a:r>
            <a:r>
              <a:rPr lang="es-AR" dirty="0" smtClean="0"/>
              <a:t>: </a:t>
            </a:r>
            <a:r>
              <a:rPr lang="en-US" sz="3100" dirty="0" smtClean="0"/>
              <a:t>Shell vs solid: spread similar, volume different</a:t>
            </a:r>
            <a:r>
              <a:rPr lang="en-US" dirty="0" smtClean="0"/>
              <a:t/>
            </a:r>
            <a:br>
              <a:rPr lang="en-US" dirty="0" smtClean="0"/>
            </a:br>
            <a:endParaRPr lang="es-AR" sz="2400" dirty="0"/>
          </a:p>
        </p:txBody>
      </p:sp>
      <p:graphicFrame>
        <p:nvGraphicFramePr>
          <p:cNvPr id="4" name="Marcador de contenid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4282749"/>
              </p:ext>
            </p:extLst>
          </p:nvPr>
        </p:nvGraphicFramePr>
        <p:xfrm>
          <a:off x="534012" y="3873855"/>
          <a:ext cx="11123976" cy="2524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90">
                  <a:extLst>
                    <a:ext uri="{9D8B030D-6E8A-4147-A177-3AD203B41FA5}">
                      <a16:colId xmlns:a16="http://schemas.microsoft.com/office/drawing/2014/main" val="3193945636"/>
                    </a:ext>
                  </a:extLst>
                </a:gridCol>
                <a:gridCol w="1291404">
                  <a:extLst>
                    <a:ext uri="{9D8B030D-6E8A-4147-A177-3AD203B41FA5}">
                      <a16:colId xmlns:a16="http://schemas.microsoft.com/office/drawing/2014/main" val="331544995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104670946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2007281965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223849643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622332858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1236444272"/>
                    </a:ext>
                  </a:extLst>
                </a:gridCol>
                <a:gridCol w="1390497">
                  <a:extLst>
                    <a:ext uri="{9D8B030D-6E8A-4147-A177-3AD203B41FA5}">
                      <a16:colId xmlns:a16="http://schemas.microsoft.com/office/drawing/2014/main" val="3512681379"/>
                    </a:ext>
                  </a:extLst>
                </a:gridCol>
              </a:tblGrid>
              <a:tr h="1080513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Image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filename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y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z [</a:t>
                      </a:r>
                      <a:r>
                        <a:rPr lang="es-AR" dirty="0" err="1" smtClean="0"/>
                        <a:t>um</a:t>
                      </a:r>
                      <a:r>
                        <a:rPr lang="es-AR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 [um2]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Spread x*y*z [um3]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Axonal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(</a:t>
                      </a:r>
                      <a:r>
                        <a:rPr lang="es-AR" dirty="0" err="1" smtClean="0"/>
                        <a:t>integrated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intensity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Geometric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volume</a:t>
                      </a:r>
                      <a:r>
                        <a:rPr lang="es-AR" dirty="0" smtClean="0"/>
                        <a:t> [um3]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7502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05_thick_shell.tif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6.54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6.54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5.54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42.72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236.45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151716712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10841.24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01084"/>
                  </a:ext>
                </a:extLst>
              </a:tr>
              <a:tr h="667662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06_solid_sphere.tif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181.09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212496592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10841.24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152591"/>
                  </a:ext>
                </a:extLst>
              </a:tr>
            </a:tbl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27" y="1500909"/>
            <a:ext cx="1591160" cy="172177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239" y="1172841"/>
            <a:ext cx="4821882" cy="2377915"/>
          </a:xfrm>
          <a:prstGeom prst="rect">
            <a:avLst/>
          </a:prstGeom>
        </p:spPr>
      </p:pic>
      <p:cxnSp>
        <p:nvCxnSpPr>
          <p:cNvPr id="7" name="Conector recto de flecha 6"/>
          <p:cNvCxnSpPr>
            <a:stCxn id="5" idx="1"/>
            <a:endCxn id="3" idx="3"/>
          </p:cNvCxnSpPr>
          <p:nvPr/>
        </p:nvCxnSpPr>
        <p:spPr>
          <a:xfrm flipH="1" flipV="1">
            <a:off x="4098387" y="2361798"/>
            <a:ext cx="5768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884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357" y="0"/>
            <a:ext cx="77712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99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357" y="0"/>
            <a:ext cx="7771285" cy="6858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18" y="0"/>
            <a:ext cx="10397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359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745</Words>
  <Application>Microsoft Office PowerPoint</Application>
  <PresentationFormat>Panorámica</PresentationFormat>
  <Paragraphs>299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MorphoScope Test</vt:lpstr>
      <vt:lpstr>Synthetic volumes</vt:lpstr>
      <vt:lpstr>Different Size</vt:lpstr>
      <vt:lpstr>Ellipsoids elongated in different axes</vt:lpstr>
      <vt:lpstr>Same geometry at different intensities</vt:lpstr>
      <vt:lpstr>Synthetic volumes</vt:lpstr>
      <vt:lpstr>pca_rotation</vt:lpstr>
      <vt:lpstr>Synthetic volumes</vt:lpstr>
      <vt:lpstr>Fasciculation</vt:lpstr>
      <vt:lpstr>Fasciculation</vt:lpstr>
      <vt:lpstr>Fasciculation</vt:lpstr>
      <vt:lpstr>Synthetic volumes</vt:lpstr>
      <vt:lpstr>Axonal_volume: Same size, different intensity: different volume</vt:lpstr>
      <vt:lpstr>Axonal_volume: Different sizes: different volume </vt:lpstr>
      <vt:lpstr>Axonal_volume: Shell vs solid: spread similar, volume different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MorphoScope Test</dc:title>
  <dc:creator>Usuario Laboratorio Ceriani</dc:creator>
  <cp:lastModifiedBy>Usuario Laboratorio Ceriani</cp:lastModifiedBy>
  <cp:revision>8</cp:revision>
  <dcterms:created xsi:type="dcterms:W3CDTF">2025-12-30T16:46:15Z</dcterms:created>
  <dcterms:modified xsi:type="dcterms:W3CDTF">2025-12-30T18:17:29Z</dcterms:modified>
</cp:coreProperties>
</file>